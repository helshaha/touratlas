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89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89B3C"/>
                </a:solidFill>
                <a:latin typeface="Calibri"/>
              </a:rPr>
              <a:t>TOURISM CASE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1">
                <a:solidFill>
                  <a:srgbClr val="F5ECDF"/>
                </a:solidFill>
                <a:latin typeface="Georgia"/>
              </a:rPr>
              <a:t>TourAtlas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C9B8A3"/>
                </a:solidFill>
                <a:latin typeface="Georgia"/>
              </a:rPr>
              <a:t>Tourism that works offline — for every community, in every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9B3C"/>
                </a:solidFill>
                <a:latin typeface="Georgia"/>
              </a:rPr>
              <a:t>Hossam Elshahaby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89B3C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5ECDF"/>
                </a:solidFill>
                <a:latin typeface="Georgia"/>
              </a:rPr>
              <a:t>When the signal drops, tourism stops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2E221B"/>
          </a:solidFill>
          <a:ln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E89B3C"/>
                </a:solidFill>
                <a:latin typeface="Georgia"/>
              </a:rPr>
              <a:t>Low connectivity</a:t>
            </a:r>
          </a:p>
          <a:p>
            <a:r>
              <a:rPr sz="1700">
                <a:solidFill>
                  <a:srgbClr val="F5ECDF"/>
                </a:solidFill>
                <a:latin typeface="Calibri"/>
              </a:rPr>
              <a:t>Rural trails, eco-sites and heritage areas lose signal exactly where visitors need help.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210312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2E221B"/>
          </a:solidFill>
          <a:ln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E89B3C"/>
                </a:solidFill>
                <a:latin typeface="Georgia"/>
              </a:rPr>
              <a:t>Language barriers</a:t>
            </a:r>
          </a:p>
          <a:p>
            <a:r>
              <a:rPr sz="1700">
                <a:solidFill>
                  <a:srgbClr val="F5ECDF"/>
                </a:solidFill>
                <a:latin typeface="Calibri"/>
              </a:rPr>
              <a:t>Visitors speak Swedish, Arabic, German; operators speak Wolof, Ukrainian or Arabic.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10312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2E221B"/>
          </a:solidFill>
          <a:ln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E89B3C"/>
                </a:solidFill>
                <a:latin typeface="Georgia"/>
              </a:rPr>
              <a:t>Heritage at risk</a:t>
            </a:r>
          </a:p>
          <a:p>
            <a:r>
              <a:rPr sz="1700">
                <a:solidFill>
                  <a:srgbClr val="F5ECDF"/>
                </a:solidFill>
                <a:latin typeface="Calibri"/>
              </a:rPr>
              <a:t>In crises and conflict zones, knowledge of historical places is fragile and easily lost.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89B3C"/>
                </a:solidFill>
                <a:latin typeface="Calibri"/>
              </a:rPr>
              <a:t>SOLUTION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5ECDF"/>
                </a:solidFill>
                <a:latin typeface="Georgia"/>
              </a:rPr>
              <a:t>One offline-first workspace for operators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2E221B"/>
          </a:solidFill>
          <a:ln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E89B3C"/>
                </a:solidFill>
                <a:latin typeface="Georgia"/>
              </a:rPr>
              <a:t>Voice + translation</a:t>
            </a:r>
          </a:p>
          <a:p>
            <a:r>
              <a:rPr sz="1700">
                <a:solidFill>
                  <a:srgbClr val="F5ECDF"/>
                </a:solidFill>
                <a:latin typeface="Calibri"/>
              </a:rPr>
              <a:t>Hold to speak; on-device Whisper and OPUS-MT when offline.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201168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2E221B"/>
          </a:solidFill>
          <a:ln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E89B3C"/>
                </a:solidFill>
                <a:latin typeface="Georgia"/>
              </a:rPr>
              <a:t>Smart conversations</a:t>
            </a:r>
          </a:p>
          <a:p>
            <a:r>
              <a:rPr sz="1700">
                <a:solidFill>
                  <a:srgbClr val="F5ECDF"/>
                </a:solidFill>
                <a:latin typeface="Calibri"/>
              </a:rPr>
              <a:t>Dates, times, group size and budget gathered across turns.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2E221B"/>
          </a:solidFill>
          <a:ln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E89B3C"/>
                </a:solidFill>
                <a:latin typeface="Georgia"/>
              </a:rPr>
              <a:t>Human-approved replies</a:t>
            </a:r>
          </a:p>
          <a:p>
            <a:r>
              <a:rPr sz="1700">
                <a:solidFill>
                  <a:srgbClr val="F5ECDF"/>
                </a:solidFill>
                <a:latin typeface="Calibri"/>
              </a:rPr>
              <a:t>Small on-device AI drafts; the operator always approves.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5196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2E221B"/>
          </a:solidFill>
          <a:ln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E89B3C"/>
                </a:solidFill>
                <a:latin typeface="Georgia"/>
              </a:rPr>
              <a:t>Offline map packs</a:t>
            </a:r>
          </a:p>
          <a:p>
            <a:r>
              <a:rPr sz="1700">
                <a:solidFill>
                  <a:srgbClr val="F5ECDF"/>
                </a:solidFill>
                <a:latin typeface="Calibri"/>
              </a:rPr>
              <a:t>Prepared and custom areas reopen with the network 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25196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2E221B"/>
          </a:solidFill>
          <a:ln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E89B3C"/>
                </a:solidFill>
                <a:latin typeface="Georgia"/>
              </a:rPr>
              <a:t>SMS fallback</a:t>
            </a:r>
          </a:p>
          <a:p>
            <a:r>
              <a:rPr sz="1700">
                <a:solidFill>
                  <a:srgbClr val="F5ECDF"/>
                </a:solidFill>
                <a:latin typeface="Calibri"/>
              </a:rPr>
              <a:t>Approved replies via SMS when data is unavailable.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25196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2E221B"/>
          </a:solidFill>
          <a:ln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E89B3C"/>
                </a:solidFill>
                <a:latin typeface="Georgia"/>
              </a:rPr>
              <a:t>Heritage protection</a:t>
            </a:r>
          </a:p>
          <a:p>
            <a:r>
              <a:rPr sz="1700">
                <a:solidFill>
                  <a:srgbClr val="F5ECDF"/>
                </a:solidFill>
                <a:latin typeface="Calibri"/>
              </a:rPr>
              <a:t>Private notes on historical places, e.g. in Ukraine.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89B3C"/>
                </a:solidFill>
                <a:latin typeface="Calibri"/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5ECDF"/>
                </a:solidFill>
                <a:latin typeface="Georgia"/>
              </a:rPr>
              <a:t>Real impact where it matters most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5303520" cy="1737360"/>
          </a:xfrm>
          <a:prstGeom prst="roundRect">
            <a:avLst>
              <a:gd name="adj" fmla="val 8000"/>
            </a:avLst>
          </a:prstGeom>
          <a:solidFill>
            <a:srgbClr val="2E221B"/>
          </a:solidFill>
          <a:ln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E89B3C"/>
                </a:solidFill>
                <a:latin typeface="Georgia"/>
              </a:rPr>
              <a:t>Income for rural &amp; youth-led tours</a:t>
            </a:r>
          </a:p>
          <a:p>
            <a:r>
              <a:rPr sz="1700">
                <a:solidFill>
                  <a:srgbClr val="F5ECDF"/>
                </a:solidFill>
                <a:latin typeface="Calibri"/>
              </a:rPr>
              <a:t>Operators answer any visitor, anywhere, without losing bookings.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2103120"/>
            <a:ext cx="5303520" cy="1737360"/>
          </a:xfrm>
          <a:prstGeom prst="roundRect">
            <a:avLst>
              <a:gd name="adj" fmla="val 8000"/>
            </a:avLst>
          </a:prstGeom>
          <a:solidFill>
            <a:srgbClr val="2E221B"/>
          </a:solidFill>
          <a:ln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E89B3C"/>
                </a:solidFill>
                <a:latin typeface="Georgia"/>
              </a:rPr>
              <a:t>Communication without coverage</a:t>
            </a:r>
          </a:p>
          <a:p>
            <a:r>
              <a:rPr sz="1700">
                <a:solidFill>
                  <a:srgbClr val="F5ECDF"/>
                </a:solidFill>
                <a:latin typeface="Calibri"/>
              </a:rPr>
              <a:t>Records, maps and models keep working fully offline.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5303520" cy="1737360"/>
          </a:xfrm>
          <a:prstGeom prst="roundRect">
            <a:avLst>
              <a:gd name="adj" fmla="val 8000"/>
            </a:avLst>
          </a:prstGeom>
          <a:solidFill>
            <a:srgbClr val="2E221B"/>
          </a:solidFill>
          <a:ln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E89B3C"/>
                </a:solidFill>
                <a:latin typeface="Georgia"/>
              </a:rPr>
              <a:t>Heritage saved during crisis</a:t>
            </a:r>
          </a:p>
          <a:p>
            <a:r>
              <a:rPr sz="1700">
                <a:solidFill>
                  <a:srgbClr val="F5ECDF"/>
                </a:solidFill>
                <a:latin typeface="Calibri"/>
              </a:rPr>
              <a:t>Historical places documented and protected privately.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4114800"/>
            <a:ext cx="5303520" cy="1737360"/>
          </a:xfrm>
          <a:prstGeom prst="roundRect">
            <a:avLst>
              <a:gd name="adj" fmla="val 8000"/>
            </a:avLst>
          </a:prstGeom>
          <a:solidFill>
            <a:srgbClr val="2E221B"/>
          </a:solidFill>
          <a:ln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E89B3C"/>
                </a:solidFill>
                <a:latin typeface="Georgia"/>
              </a:rPr>
              <a:t>Honest, measurable evidence</a:t>
            </a:r>
          </a:p>
          <a:p>
            <a:r>
              <a:rPr sz="1700">
                <a:solidFill>
                  <a:srgbClr val="F5ECDF"/>
                </a:solidFill>
                <a:latin typeface="Calibri"/>
              </a:rPr>
              <a:t>Every capability labelled VERIFIED, LOCAL ONLY or NOT CONNECTED.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89B3C"/>
                </a:solidFill>
                <a:latin typeface="Calibr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5ECDF"/>
                </a:solidFill>
                <a:latin typeface="Georgia"/>
              </a:rPr>
              <a:t>See TourAtlas in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2E221B"/>
          </a:solidFill>
          <a:ln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E89B3C"/>
                </a:solidFill>
                <a:latin typeface="Georgia"/>
              </a:rPr>
              <a:t>Team introduction</a:t>
            </a:r>
          </a:p>
          <a:p>
            <a:r>
              <a:rPr sz="1700">
                <a:solidFill>
                  <a:srgbClr val="F5ECDF"/>
                </a:solidFill>
                <a:latin typeface="Calibri"/>
              </a:rPr>
              <a:t>youtu.be/oFYcHAJsyqc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210312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2E221B"/>
          </a:solidFill>
          <a:ln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E89B3C"/>
                </a:solidFill>
                <a:latin typeface="Georgia"/>
              </a:rPr>
              <a:t>Product demo</a:t>
            </a:r>
          </a:p>
          <a:p>
            <a:r>
              <a:rPr sz="1700">
                <a:solidFill>
                  <a:srgbClr val="F5ECDF"/>
                </a:solidFill>
                <a:latin typeface="Calibri"/>
              </a:rPr>
              <a:t>youtu.be/vU0QsG1MOB4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103120"/>
            <a:ext cx="3474720" cy="2377440"/>
          </a:xfrm>
          <a:prstGeom prst="roundRect">
            <a:avLst>
              <a:gd name="adj" fmla="val 8000"/>
            </a:avLst>
          </a:prstGeom>
          <a:solidFill>
            <a:srgbClr val="2E221B"/>
          </a:solidFill>
          <a:ln>
            <a:solidFill>
              <a:srgbClr val="E89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2200" b="1">
                <a:solidFill>
                  <a:srgbClr val="E89B3C"/>
                </a:solidFill>
                <a:latin typeface="Georgia"/>
              </a:rPr>
              <a:t>Technical depth</a:t>
            </a:r>
          </a:p>
          <a:p>
            <a:r>
              <a:rPr sz="1700">
                <a:solidFill>
                  <a:srgbClr val="F5ECDF"/>
                </a:solidFill>
                <a:latin typeface="Calibri"/>
              </a:rPr>
              <a:t>youtu.be/CNfpmA17Ng4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89B3C"/>
                </a:solidFill>
                <a:latin typeface="Calibri"/>
              </a:rPr>
              <a:t>Live app: travelcase-explorer.lovable.app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1">
                <a:solidFill>
                  <a:srgbClr val="F5ECDF"/>
                </a:solidFill>
                <a:latin typeface="Georg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89B3C"/>
                </a:solidFill>
                <a:latin typeface="Georgia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9B8A3"/>
                </a:solidFill>
                <a:latin typeface="Georgia"/>
              </a:rPr>
              <a:t>Hossam Elshahaby · TourAtlas — Tourism Case 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